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6366F1"/>
                </a:solidFill>
              </a:defRPr>
            </a:pPr>
            <a:r>
              <a:t>POLLY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6B6D4"/>
                </a:solidFill>
              </a:defRPr>
            </a:pPr>
            <a:r>
              <a:t>AI Marketing Platform for Financial Advisors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65760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</a:defRPr>
            </a:pPr>
            <a:r>
              <a:t>Compliant campaign creation, multi-channel distribution, and real-time analytics — powered by AI agents.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5943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predictivelabs.ai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6366F1"/>
                </a:solidFill>
              </a:defRPr>
            </a:pPr>
            <a:r>
              <a:t>The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  Financial advisors spend 2-3 FTEs on campaign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  Compliance review is manual and error-prone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  Multi-channel coordination is fragmented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  No unified analytics across WhatsApp, email, social, CRM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1752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  Marketing content must comply with MiFID II, PRIIPs, FCA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6366F1"/>
                </a:solidFill>
              </a:defRPr>
            </a:pPr>
            <a:r>
              <a:t>POLLY — Your AI Marketing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  9 AI agents with 54 specialized marketing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  Built-in MiFID II / PRIIPs / FCA compliance guardrails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  Multi-channel: WhatsApp, Telegram, email, LinkedIn, X, Instagram, TikTok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  Campaign automation: A/B testing, follow-ups, lead scoring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  Conversational interface — just tell POLLY what you need</a:t>
            </a:r>
          </a:p>
        </p:txBody>
      </p:sp>
      <p:pic>
        <p:nvPicPr>
          <p:cNvPr id="8" name="Picture 7" descr="01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914400"/>
            <a:ext cx="4114800" cy="25717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Platform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</a:defRPr>
            </a:pPr>
            <a:r>
              <a:t>9 agents, 54 tools, 7+ channels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6366F1"/>
                </a:solidFill>
              </a:defRPr>
            </a:pPr>
            <a:r>
              <a:t>Conversational AI Interface</a:t>
            </a:r>
          </a:p>
        </p:txBody>
      </p:sp>
      <p:pic>
        <p:nvPicPr>
          <p:cNvPr id="3" name="Picture 2" descr="07_chat_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4206240" cy="2628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30352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6 starter skill buttons</a:t>
            </a:r>
          </a:p>
        </p:txBody>
      </p:sp>
      <p:pic>
        <p:nvPicPr>
          <p:cNvPr id="5" name="Picture 4" descr="08_chat_campaig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005840"/>
            <a:ext cx="4206240" cy="2628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663440" y="530352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Campaign creation via chat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6366F1"/>
                </a:solidFill>
              </a:defRPr>
            </a:pPr>
            <a:r>
              <a:t>Compliance Built-In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  AI-powered review against MiFID II, PRIIPs, FCA regulations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  Automated risk warnings per jurisdiction (UK, EU, US, APAC)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  Target market assessment and negative target definition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  Document approval workflow with four-eye management checks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  Compliance-approved document set drives all campaigns</a:t>
            </a:r>
          </a:p>
        </p:txBody>
      </p:sp>
      <p:pic>
        <p:nvPicPr>
          <p:cNvPr id="8" name="Picture 7" descr="12_instructions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914400"/>
            <a:ext cx="4114800" cy="25717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6366F1"/>
                </a:solidFill>
              </a:defRPr>
            </a:pPr>
            <a:r>
              <a:t>Campaign Lifecycle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  Warmup campaigns to test market appetite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  AI-generated compliant copy for every channel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  A/B testing with statistical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  Automated follow-ups for non-responders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  Lead scoring: hot, warm, questions, removal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546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  CRM integration for pipeline tracking</a:t>
            </a:r>
          </a:p>
        </p:txBody>
      </p:sp>
      <p:pic>
        <p:nvPicPr>
          <p:cNvPr id="9" name="Picture 8" descr="09_chat_analy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914400"/>
            <a:ext cx="4114800" cy="25717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6366F1"/>
                </a:solidFill>
              </a:defRPr>
            </a:pPr>
            <a:r>
              <a:t>Multi-Channel Distribution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  WhatsApp Business — deliver, read receipts, replies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  Telegram Bot — messaging and group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  Email — opens, clicks, replies, unsubscribes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  LinkedIn &amp; X — social engagement and posting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  Instagram &amp; TikTok — reach and engagement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546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  CRM — pipeline movement and lead tracking</a:t>
            </a:r>
          </a:p>
        </p:txBody>
      </p:sp>
      <p:pic>
        <p:nvPicPr>
          <p:cNvPr id="9" name="Picture 8" descr="02_about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914400"/>
            <a:ext cx="4114800" cy="25717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6366F1"/>
                </a:solidFill>
              </a:defRPr>
            </a:pPr>
            <a:r>
              <a:t>Interactive Demo — Device Simulator</a:t>
            </a:r>
          </a:p>
        </p:txBody>
      </p:sp>
      <p:pic>
        <p:nvPicPr>
          <p:cNvPr id="3" name="Picture 2" descr="04_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4206240" cy="2628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30352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WhatsApp simulator</a:t>
            </a:r>
          </a:p>
        </p:txBody>
      </p:sp>
      <p:pic>
        <p:nvPicPr>
          <p:cNvPr id="5" name="Picture 4" descr="15_demo_tele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005840"/>
            <a:ext cx="4206240" cy="2628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663440" y="530352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Telegram simulator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6366F1"/>
                </a:solidFill>
              </a:defRPr>
            </a:pPr>
            <a:r>
              <a:t>Demo — Analytics &amp; Campaign Preview</a:t>
            </a:r>
          </a:p>
        </p:txBody>
      </p:sp>
      <p:pic>
        <p:nvPicPr>
          <p:cNvPr id="3" name="Picture 2" descr="16_demo_analy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4206240" cy="2628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30352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Live analytics dashboard</a:t>
            </a:r>
          </a:p>
        </p:txBody>
      </p:sp>
      <p:pic>
        <p:nvPicPr>
          <p:cNvPr id="5" name="Picture 4" descr="17_demo_campaign_p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005840"/>
            <a:ext cx="4206240" cy="2628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663440" y="530352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A/B variant preview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6366F1"/>
                </a:solidFill>
              </a:defRPr>
            </a:pPr>
            <a:r>
              <a:t>Profile &amp; API Integrations</a:t>
            </a:r>
          </a:p>
        </p:txBody>
      </p:sp>
      <p:pic>
        <p:nvPicPr>
          <p:cNvPr id="3" name="Picture 2" descr="10_profile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4206240" cy="2628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30352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Integration status dashboard</a:t>
            </a:r>
          </a:p>
        </p:txBody>
      </p:sp>
      <p:pic>
        <p:nvPicPr>
          <p:cNvPr id="5" name="Picture 4" descr="11_profile_skil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005840"/>
            <a:ext cx="4206240" cy="2628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663440" y="530352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39 marketing skills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6366F1"/>
                </a:solidFill>
              </a:defRPr>
            </a:pPr>
            <a:r>
              <a:t>Customizable Agent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  Edit system prompts for each of the 9 AI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  Per-user customization with global defaults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  Admin-only global instructions prepended to all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  Template variables: {{today}} for dynamic date insertion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  Reload from database without restart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546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  Prompts stored in PostgreSQL (polly.prompts table)</a:t>
            </a:r>
          </a:p>
        </p:txBody>
      </p:sp>
      <p:pic>
        <p:nvPicPr>
          <p:cNvPr id="9" name="Picture 8" descr="12_instructions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914400"/>
            <a:ext cx="4114800" cy="25717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6366F1"/>
                </a:solidFill>
              </a:defRPr>
            </a:pPr>
            <a:r>
              <a:t>Technical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  Python 3.13 + FastHTML web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  PostgreSQL database (10 tables in polly schema)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  XAI/Grok LLM for content generation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  Arcade.dev for social media posting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1752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  Playwright for page analysis (CRO/SEO)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47472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  Docker deployment via Coolify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3192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  Session-based auth with bcrypt password hashing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6366F1"/>
                </a:solidFill>
              </a:defRPr>
            </a:pPr>
            <a:r>
              <a:t>9 AI Agents — 54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  Content (7) — FAQs, teasers, pitch decks, copywriting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  Strategy (6) — market research, competitor analysis, backtesting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  Compliance (6) — regulatory review, document approval, risk warnings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  Campaign (7) — creation, workflows, A/B testing, lead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1752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  Channels (9) — multi-channel monitoring and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47472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  Social (3) — post to X, LinkedIn, WhatsApp, Telegram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3192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  CRO (8) — conversion optimization, signup flow, forms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38912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  SEO (5) — technical audits, schema markup, AI SEO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84632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  Ads (3) — paid advertising, analytics tracking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6366F1"/>
                </a:solidFill>
              </a:defRPr>
            </a:pPr>
            <a:r>
              <a:t>Deployment &amp;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  Docker container deployed via Coolify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  Domain: polly.predictivelabs.ai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  PostgreSQL on dedicated server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  API keys encrypted, never stored in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1752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  GDPR: removal requests flagged, CRM responsibility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47472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  Comprehensive test suite: 52 tests, 135 assertions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Ready to meet POLLY?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6B6D4"/>
                </a:solidFill>
              </a:defRPr>
            </a:pPr>
            <a:r>
              <a:t>polly.predictivelabs.ai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</a:defRPr>
            </a:pPr>
            <a:r>
              <a:t>Predictive Labs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